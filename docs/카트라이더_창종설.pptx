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098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0936F-BECE-4635-1C5E-EFD04316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6638E-51E9-9145-B235-68F7A7B31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2020B-4CEF-2CBA-400B-043DCA744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8B80A-C0A2-273B-8290-03DFA3338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72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제22회 </a:t>
            </a:r>
            <a:r>
              <a:rPr lang="en-US" sz="1200" b="1" kern="0" spc="6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</a:t>
            </a:r>
            <a:r>
              <a:rPr lang="ko-KR" altLang="en-US" sz="1200" b="1" kern="0" spc="6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적종합</a:t>
            </a:r>
            <a:r>
              <a:rPr lang="en-US" sz="1200" b="1" kern="0" spc="6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설계경진대</a:t>
            </a:r>
            <a:r>
              <a:rPr lang="ko-KR" altLang="en-US" sz="1200" b="1" kern="0" spc="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</a:t>
            </a:r>
            <a:endParaRPr lang="en-US" sz="1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7818120" y="5029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 연동을 지원하는 스마트 </a:t>
            </a: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</a:t>
            </a:r>
            <a:r>
              <a:rPr lang="en-US" sz="20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</a:t>
            </a:r>
            <a:r>
              <a:rPr lang="en-US" sz="2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단말로 활용하는 </a:t>
            </a:r>
            <a:r>
              <a:rPr lang="en-US" sz="20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저비용 애드온</a:t>
            </a:r>
            <a:r>
              <a:rPr lang="en-US" sz="2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스마트 쇼핑카트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017520"/>
            <a:ext cx="6400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카트 재활용</a:t>
            </a: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•    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 제거</a:t>
            </a: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•    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연산 클라우드 위임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카트라이더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en-US" sz="14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CartrAIder</a:t>
            </a: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인천대학교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쇼핑카트, 수십 년째 멈춰버린 진화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대형마트의 핵심 도구인 쇼핑카트는 세 가지 사회·기술적 문제를 동시에 만들어 내고 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3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31.4%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대형마트 시설 위해 사례 1,079건 </a:t>
            </a:r>
            <a:r>
              <a:rPr lang="ko-KR" alt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쇼핑카트 관련 사고가 1위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39959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한국소비자원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1874520"/>
            <a:ext cx="260604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1031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72.6%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347472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쇼핑카트 사고 339건 </a:t>
            </a:r>
            <a:r>
              <a:rPr lang="ko-KR" alt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6세 이하 어린이 사고가 246건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0" y="39959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방치·미끄럼 사고가 주된 원인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35040" y="1874520"/>
            <a:ext cx="260604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1031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560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4%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626364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셀프</a:t>
            </a: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계산대</a:t>
            </a:r>
            <a:r>
              <a:rPr lang="ko-KR" alt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인해 오히려 더 길어진 계산 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63640" y="39959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셀프계산 도입의 역설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효율 · 안전 · 접근성</a:t>
            </a: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카트 하나를 지능화하면 세 가지 사회적 비용을 동시에 줄일 수 있다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9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카트라이더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r>
              <a:rPr lang="en-US" sz="1100" b="1" kern="0" spc="400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</a:t>
            </a: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제품 분석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스마트카트는 왜 보급에 실패했는가?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199" y="1371600"/>
            <a:ext cx="2630899" cy="2783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EABEB8B-C23D-D470-4B0B-0D1C8B3F9877}"/>
              </a:ext>
            </a:extLst>
          </p:cNvPr>
          <p:cNvGrpSpPr/>
          <p:nvPr/>
        </p:nvGrpSpPr>
        <p:grpSpPr>
          <a:xfrm>
            <a:off x="665112" y="1480156"/>
            <a:ext cx="384048" cy="384048"/>
            <a:chOff x="658368" y="1618488"/>
            <a:chExt cx="384048" cy="384048"/>
          </a:xfrm>
        </p:grpSpPr>
        <p:sp>
          <p:nvSpPr>
            <p:cNvPr id="5" name="Shape 3"/>
            <p:cNvSpPr/>
            <p:nvPr/>
          </p:nvSpPr>
          <p:spPr>
            <a:xfrm>
              <a:off x="658368" y="1618488"/>
              <a:ext cx="384048" cy="384048"/>
            </a:xfrm>
            <a:prstGeom prst="ellipse">
              <a:avLst/>
            </a:prstGeom>
            <a:solidFill>
              <a:srgbClr val="FEE2E2"/>
            </a:solidFill>
            <a:ln w="12700">
              <a:solidFill>
                <a:srgbClr val="FEE2E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682496"/>
              <a:ext cx="246888" cy="246888"/>
            </a:xfrm>
            <a:prstGeom prst="rect">
              <a:avLst/>
            </a:prstGeom>
          </p:spPr>
        </p:pic>
      </p:grpSp>
      <p:sp>
        <p:nvSpPr>
          <p:cNvPr id="7" name="Text 4"/>
          <p:cNvSpPr/>
          <p:nvPr/>
        </p:nvSpPr>
        <p:spPr>
          <a:xfrm>
            <a:off x="1234440" y="1481327"/>
            <a:ext cx="1821516" cy="44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이마트 일라이 (</a:t>
            </a:r>
            <a:r>
              <a:rPr lang="en-US" sz="1400" b="1" dirty="0" err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eli</a:t>
            </a: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000" b="1" i="1" dirty="0">
              <a:solidFill>
                <a:srgbClr val="64748B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2018, 한국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1459" y="3484448"/>
            <a:ext cx="2207042" cy="645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000" b="1" dirty="0">
              <a:solidFill>
                <a:srgbClr val="DC262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 시범 운영 후 높은 단가·도난·안전 문제로 사실상 중단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81954" y="1371601"/>
            <a:ext cx="2706939" cy="27580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45B93D4-DA20-F453-91E8-8B93ABC72EFE}"/>
              </a:ext>
            </a:extLst>
          </p:cNvPr>
          <p:cNvGrpSpPr/>
          <p:nvPr/>
        </p:nvGrpSpPr>
        <p:grpSpPr>
          <a:xfrm>
            <a:off x="3346790" y="1488742"/>
            <a:ext cx="384048" cy="384048"/>
            <a:chOff x="3417770" y="1618488"/>
            <a:chExt cx="384048" cy="384048"/>
          </a:xfrm>
        </p:grpSpPr>
        <p:sp>
          <p:nvSpPr>
            <p:cNvPr id="11" name="Shape 8"/>
            <p:cNvSpPr/>
            <p:nvPr/>
          </p:nvSpPr>
          <p:spPr>
            <a:xfrm>
              <a:off x="3417770" y="1618488"/>
              <a:ext cx="384048" cy="384048"/>
            </a:xfrm>
            <a:prstGeom prst="ellipse">
              <a:avLst/>
            </a:prstGeom>
            <a:solidFill>
              <a:srgbClr val="FEE2E2"/>
            </a:solidFill>
            <a:ln w="12700">
              <a:solidFill>
                <a:srgbClr val="FEE2E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0922" y="1682496"/>
              <a:ext cx="246888" cy="246888"/>
            </a:xfrm>
            <a:prstGeom prst="rect">
              <a:avLst/>
            </a:prstGeom>
          </p:spPr>
        </p:pic>
      </p:grpSp>
      <p:sp>
        <p:nvSpPr>
          <p:cNvPr id="13" name="Text 9"/>
          <p:cNvSpPr/>
          <p:nvPr/>
        </p:nvSpPr>
        <p:spPr>
          <a:xfrm>
            <a:off x="3895673" y="1487010"/>
            <a:ext cx="1974934" cy="3857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Caper Cart</a:t>
            </a:r>
            <a:endParaRPr lang="en-US" sz="1000" b="1" i="1" dirty="0">
              <a:solidFill>
                <a:srgbClr val="64748B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Instacart, 미국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80104" y="3504612"/>
            <a:ext cx="2370164" cy="605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000" b="1" dirty="0">
              <a:solidFill>
                <a:srgbClr val="DC262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여전히</a:t>
            </a: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카트 단가가 높고 매장 인프라 연동 부담이 커 광범위한 보급은 한계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62046" y="1384227"/>
            <a:ext cx="2724754" cy="277629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F055F35-AD4C-7610-A8BC-42DB1D03F0B6}"/>
              </a:ext>
            </a:extLst>
          </p:cNvPr>
          <p:cNvGrpSpPr/>
          <p:nvPr/>
        </p:nvGrpSpPr>
        <p:grpSpPr>
          <a:xfrm>
            <a:off x="6059388" y="1488741"/>
            <a:ext cx="384048" cy="384048"/>
            <a:chOff x="6007766" y="1676752"/>
            <a:chExt cx="384048" cy="384048"/>
          </a:xfrm>
        </p:grpSpPr>
        <p:sp>
          <p:nvSpPr>
            <p:cNvPr id="17" name="Shape 13"/>
            <p:cNvSpPr/>
            <p:nvPr/>
          </p:nvSpPr>
          <p:spPr>
            <a:xfrm>
              <a:off x="6007766" y="1676752"/>
              <a:ext cx="384048" cy="384048"/>
            </a:xfrm>
            <a:prstGeom prst="ellipse">
              <a:avLst/>
            </a:prstGeom>
            <a:solidFill>
              <a:srgbClr val="FEE2E2"/>
            </a:solidFill>
            <a:ln w="12700">
              <a:solidFill>
                <a:srgbClr val="FEE2E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0918" y="1740760"/>
              <a:ext cx="246888" cy="246888"/>
            </a:xfrm>
            <a:prstGeom prst="rect">
              <a:avLst/>
            </a:prstGeom>
          </p:spPr>
        </p:pic>
      </p:grpSp>
      <p:sp>
        <p:nvSpPr>
          <p:cNvPr id="19" name="Text 14"/>
          <p:cNvSpPr/>
          <p:nvPr/>
        </p:nvSpPr>
        <p:spPr>
          <a:xfrm>
            <a:off x="6540778" y="1474215"/>
            <a:ext cx="2008862" cy="4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Shopic</a:t>
            </a:r>
            <a:endParaRPr lang="en-US" sz="1400" b="1" dirty="0">
              <a:solidFill>
                <a:srgbClr val="0F172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1000" i="1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이스라엘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00941" y="3572391"/>
            <a:ext cx="2496625" cy="459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000" b="1" dirty="0">
              <a:solidFill>
                <a:srgbClr val="DC2626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디스플레이·결제는</a:t>
            </a: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여전히 카트 측 모듈 의존, 완전한 경량화에는 도달하지 못함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원인  </a:t>
            </a: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 인식·자동 결제 기능을 </a:t>
            </a: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카트 내부에 내장</a:t>
            </a: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하려다 단가·유지보수 비용이 폭증해 </a:t>
            </a:r>
            <a:r>
              <a:rPr lang="en-US" sz="12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상용화에 실패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9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카트라이더</a:t>
            </a:r>
            <a:endParaRPr lang="en-US" sz="900" dirty="0"/>
          </a:p>
        </p:txBody>
      </p:sp>
      <p:pic>
        <p:nvPicPr>
          <p:cNvPr id="1026" name="Picture 2" descr="이마트, 자율주행 카트 '일라이' 공개 &lt; 전문서비스 로봇 &lt; 로봇 &lt; 기사본문 - 로봇신문">
            <a:extLst>
              <a:ext uri="{FF2B5EF4-FFF2-40B4-BE49-F238E27FC236}">
                <a16:creationId xmlns:a16="http://schemas.microsoft.com/office/drawing/2014/main" id="{D8D8ADE7-7BAE-358C-CA70-2F3D51462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65" y="1969359"/>
            <a:ext cx="1678365" cy="1644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Geissler's Supermarkets Added Shopping Carts With AI">
            <a:extLst>
              <a:ext uri="{FF2B5EF4-FFF2-40B4-BE49-F238E27FC236}">
                <a16:creationId xmlns:a16="http://schemas.microsoft.com/office/drawing/2014/main" id="{88427D8A-771B-18A3-D2E0-C82F9403B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017" y="2069060"/>
            <a:ext cx="2172337" cy="143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그림 27" descr="A person is holding a shopping cart with various food products, and a shopper display is visible, indicating a product selection screen.&#10;&#10;AI 생성 콘텐츠는 정확하지 않을 수 있습니다.">
            <a:extLst>
              <a:ext uri="{FF2B5EF4-FFF2-40B4-BE49-F238E27FC236}">
                <a16:creationId xmlns:a16="http://schemas.microsoft.com/office/drawing/2014/main" id="{283A9322-00C3-AD09-B3B2-0ABA67B38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6201" y="2128394"/>
            <a:ext cx="2443439" cy="1374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r>
              <a:rPr lang="en-US" sz="1100" b="1" kern="0" spc="400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발상의 전환 — 카트는 가볍게, 단말은 모바일로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</a:t>
            </a:r>
            <a:r>
              <a:rPr lang="en-US" sz="12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스마트카트가</a:t>
            </a: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‘</a:t>
            </a:r>
            <a:r>
              <a:rPr lang="en-US" sz="12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카트를</a:t>
            </a: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컴퓨터’로</a:t>
            </a: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</a:t>
            </a: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방향이었다면, 본 </a:t>
            </a:r>
            <a:r>
              <a:rPr lang="en-US" sz="12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작품은</a:t>
            </a: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</a:t>
            </a:r>
            <a:r>
              <a:rPr lang="ko-KR" alt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최대한 가볍게 하고</a:t>
            </a:r>
            <a:r>
              <a:rPr lang="en-US" altLang="ko-KR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사용자가 이미 가진 스마트폰을 </a:t>
            </a:r>
            <a:r>
              <a:rPr lang="en-US" sz="12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단말로</a:t>
            </a: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</a:t>
            </a:r>
            <a:r>
              <a:rPr lang="ko-KR" altLang="en-US" sz="12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</a:t>
            </a: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703320" cy="2697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스마트카트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카트를 컴퓨터로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35224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2880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 패널 내장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6440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32095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 센서 / RFID 태그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9359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552" y="3538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고성능 카트 내부 연산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22776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7552" y="3867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 카트 전량 교체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85800" y="4114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 1대당 수백만 원 → 보급 실패</a:t>
            </a:r>
            <a:endParaRPr lang="en-US" sz="11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3CD5865-0684-B609-1B21-B36254FACD62}"/>
              </a:ext>
            </a:extLst>
          </p:cNvPr>
          <p:cNvGrpSpPr/>
          <p:nvPr/>
        </p:nvGrpSpPr>
        <p:grpSpPr>
          <a:xfrm>
            <a:off x="4327768" y="2948940"/>
            <a:ext cx="502920" cy="502920"/>
            <a:chOff x="4343400" y="2948940"/>
            <a:chExt cx="502920" cy="502920"/>
          </a:xfrm>
        </p:grpSpPr>
        <p:sp>
          <p:nvSpPr>
            <p:cNvPr id="17" name="Shape 11"/>
            <p:cNvSpPr/>
            <p:nvPr/>
          </p:nvSpPr>
          <p:spPr>
            <a:xfrm>
              <a:off x="4343400" y="2948940"/>
              <a:ext cx="502920" cy="502920"/>
            </a:xfrm>
            <a:prstGeom prst="ellipse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8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62272" y="3076956"/>
              <a:ext cx="274320" cy="274320"/>
            </a:xfrm>
            <a:prstGeom prst="rect">
              <a:avLst/>
            </a:prstGeom>
          </p:spPr>
        </p:pic>
      </p:grpSp>
      <p:sp>
        <p:nvSpPr>
          <p:cNvPr id="19" name="Shape 12"/>
          <p:cNvSpPr/>
          <p:nvPr/>
        </p:nvSpPr>
        <p:spPr>
          <a:xfrm>
            <a:off x="4983480" y="1874520"/>
            <a:ext cx="370332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/>
          <p:nvPr/>
        </p:nvSpPr>
        <p:spPr>
          <a:xfrm>
            <a:off x="5212080" y="2057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작품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212080" y="2331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 최소화, 단말은 모바일</a:t>
            </a:r>
            <a:endParaRPr lang="en-US" sz="2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926080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32120" y="2880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디스플레이 제거 → 사용자 스마트폰 활용</a:t>
            </a:r>
            <a:endParaRPr lang="en-US" sz="11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255264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532120" y="32095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비전 기반 인식 (모듈 최소화)</a:t>
            </a:r>
            <a:endParaRPr lang="en-US" sz="11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584448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532120" y="3538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연산 클라우드 위임 (저사양 엣지)</a:t>
            </a:r>
            <a:endParaRPr lang="en-US" sz="11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913632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532120" y="3867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Add-on </a:t>
            </a:r>
            <a:r>
              <a:rPr lang="ko-KR" alt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기존 카트 그대로 재활용</a:t>
            </a:r>
            <a:endParaRPr lang="en-US" sz="1150" dirty="0"/>
          </a:p>
        </p:txBody>
      </p:sp>
      <p:sp>
        <p:nvSpPr>
          <p:cNvPr id="30" name="Text 19"/>
          <p:cNvSpPr/>
          <p:nvPr/>
        </p:nvSpPr>
        <p:spPr>
          <a:xfrm>
            <a:off x="5212080" y="4114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저단가 · 경량 · 유지보수 용이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9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카트라이더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r>
              <a:rPr lang="en-US" sz="1100" b="1" kern="0" spc="400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실현</a:t>
            </a: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kern="0" spc="400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흐름 — 담는 즉시 인식, 2탭으로 결제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74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116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담기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292" y="2491740"/>
            <a:ext cx="146304" cy="14630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78024" y="1417320"/>
            <a:ext cx="1874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2660904" y="1581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384" y="2011680"/>
            <a:ext cx="685800" cy="685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9464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촬영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116" y="2491740"/>
            <a:ext cx="146304" cy="14630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498848" y="1417320"/>
            <a:ext cx="1874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/>
          <p:nvPr/>
        </p:nvSpPr>
        <p:spPr>
          <a:xfrm>
            <a:off x="4681728" y="1581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201168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90288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AI</a:t>
            </a:r>
            <a:endParaRPr lang="en-US" sz="15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491740"/>
            <a:ext cx="146304" cy="14630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519672" y="1417320"/>
            <a:ext cx="18745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5"/>
          <p:cNvSpPr/>
          <p:nvPr/>
        </p:nvSpPr>
        <p:spPr>
          <a:xfrm>
            <a:off x="6702552" y="1581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2011680"/>
            <a:ext cx="685800" cy="6858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524244" y="2788920"/>
            <a:ext cx="18699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</a:rPr>
              <a:t>장바구니 실시간 갱신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224528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09728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무거운 AI 연산은 </a:t>
            </a: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</a:t>
            </a: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에서, 디스플레이·결제는 </a:t>
            </a: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스마트폰</a:t>
            </a: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처리 → 카트 자체는 카메라+통신 모듈로 단순화</a:t>
            </a:r>
            <a:endParaRPr lang="en-US" sz="1100" dirty="0"/>
          </a:p>
        </p:txBody>
      </p:sp>
      <p:sp>
        <p:nvSpPr>
          <p:cNvPr id="30" name="Text 2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9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카트라이더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r>
              <a:rPr lang="en-US" sz="1100" b="1" kern="0" spc="400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실현</a:t>
            </a: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kern="0" spc="400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— 최소 하드웨어 + 클라우드 분리 아키텍처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276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1901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카트에 부착하는 애드온 모듈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2578608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50392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카메라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바스켓 하향 촬영, 상품 인식용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035808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50392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영상 </a:t>
            </a:r>
            <a:r>
              <a:rPr lang="en-US" sz="10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캡처·압축·전송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(저사양·저전력)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3493008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50392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 12V 모터 ×2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0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전동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보조 이동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3950208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50392" y="3840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</a:t>
            </a:r>
            <a:r>
              <a:rPr lang="en-US" sz="1200" b="1" dirty="0" err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0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서버 연동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7276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800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SOFTWARE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92040" y="1901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분리 아키텍처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892040" y="2578608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5056632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</a:t>
            </a:r>
            <a:r>
              <a:rPr lang="en-US" sz="1200" b="1" dirty="0" err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YOLOv8 </a:t>
            </a:r>
            <a:r>
              <a:rPr lang="en-US" sz="10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파인튜닝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-&gt; occlusion 환경 대응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92040" y="3035808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5056632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서버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Spring Boot · FastAPI · MySQL · Redis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92040" y="3493008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5056632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앱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React Native — 큰 폰트·2탭 결제 UX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892040" y="3950208"/>
            <a:ext cx="54864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5056632" y="3840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결제·식별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OTA 업데이트, 음성 안내, </a:t>
            </a:r>
            <a:r>
              <a:rPr lang="en-US" sz="10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</a:t>
            </a: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길안내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Edge–Cloud 분리  </a:t>
            </a: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엣지 = 영상 송수신만, 클라우드 = AI 인식 → 카트 단가↓ · 발열↓ · 배터리수명↑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9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카트라이더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BC0DC-D01B-6B53-DFE3-338273E12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F50375-7FD2-19C7-5068-568C53A287B7}"/>
              </a:ext>
            </a:extLst>
          </p:cNvPr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r>
              <a:rPr lang="en-US" sz="1100" b="1" kern="0" spc="400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실현</a:t>
            </a: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kern="0" spc="400" dirty="0" err="1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9A0514-4559-FB50-E5E3-487E98C58A66}"/>
              </a:ext>
            </a:extLst>
          </p:cNvPr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</a:rPr>
              <a:t>하드웨어</a:t>
            </a:r>
            <a:r>
              <a:rPr lang="en-US" altLang="ko-KR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</a:rPr>
              <a:t>소프트웨어 예상도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2231A01-5E66-F98E-7DCD-4F05DBEF3EFD}"/>
              </a:ext>
            </a:extLst>
          </p:cNvPr>
          <p:cNvSpPr/>
          <p:nvPr/>
        </p:nvSpPr>
        <p:spPr>
          <a:xfrm>
            <a:off x="50799" y="1371600"/>
            <a:ext cx="326523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9258CB5-968D-B597-9CCA-FE551654E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9" y="1572768"/>
            <a:ext cx="292608" cy="29260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1C8F751-95FE-B4B9-F81D-53A9F1B3B67A}"/>
              </a:ext>
            </a:extLst>
          </p:cNvPr>
          <p:cNvSpPr/>
          <p:nvPr/>
        </p:nvSpPr>
        <p:spPr>
          <a:xfrm>
            <a:off x="645159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8F0E2B3-D6DB-86F4-B7B8-01B52F2EE51E}"/>
              </a:ext>
            </a:extLst>
          </p:cNvPr>
          <p:cNvSpPr/>
          <p:nvPr/>
        </p:nvSpPr>
        <p:spPr>
          <a:xfrm>
            <a:off x="3366827" y="1371600"/>
            <a:ext cx="5726374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791DB832-21F4-2F5D-BDBF-59387E694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428" y="1572768"/>
            <a:ext cx="292608" cy="292608"/>
          </a:xfrm>
          <a:prstGeom prst="rect">
            <a:avLst/>
          </a:prstGeom>
        </p:spPr>
      </p:pic>
      <p:sp>
        <p:nvSpPr>
          <p:cNvPr id="18" name="Text 14">
            <a:extLst>
              <a:ext uri="{FF2B5EF4-FFF2-40B4-BE49-F238E27FC236}">
                <a16:creationId xmlns:a16="http://schemas.microsoft.com/office/drawing/2014/main" id="{B4BB7C45-0D36-AE89-F0ED-D4297B6F275F}"/>
              </a:ext>
            </a:extLst>
          </p:cNvPr>
          <p:cNvSpPr/>
          <p:nvPr/>
        </p:nvSpPr>
        <p:spPr>
          <a:xfrm>
            <a:off x="3961188" y="1554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SOFTWARE</a:t>
            </a:r>
            <a:endParaRPr lang="en-US" sz="10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1E48958-4E17-4B3B-2C53-64902CB443FB}"/>
              </a:ext>
            </a:extLst>
          </p:cNvPr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9</a:t>
            </a:r>
            <a:endParaRPr lang="en-US" sz="9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C98FF9FE-452D-AC74-3260-0C4A170528F5}"/>
              </a:ext>
            </a:extLst>
          </p:cNvPr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카트라이더</a:t>
            </a:r>
            <a:endParaRPr lang="en-US" sz="900" dirty="0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3854CBFE-8148-631B-97C4-05101EEA9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402510208">
            <a:extLst>
              <a:ext uri="{FF2B5EF4-FFF2-40B4-BE49-F238E27FC236}">
                <a16:creationId xmlns:a16="http://schemas.microsoft.com/office/drawing/2014/main" id="{B004513F-D789-78D6-7049-3D1A16BEE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1" y="1997773"/>
            <a:ext cx="573405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_x402550240">
            <a:extLst>
              <a:ext uri="{FF2B5EF4-FFF2-40B4-BE49-F238E27FC236}">
                <a16:creationId xmlns:a16="http://schemas.microsoft.com/office/drawing/2014/main" id="{0EC12B97-33FD-6901-ED55-626157E0C3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9" b="24114"/>
          <a:stretch>
            <a:fillRect/>
          </a:stretch>
        </p:blipFill>
        <p:spPr bwMode="auto">
          <a:xfrm>
            <a:off x="173655" y="1833372"/>
            <a:ext cx="3078871" cy="198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68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기대 효과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기술이 아니라 경험을 바꾼다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550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도입 비용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상용화 가능성 ↑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892040" y="1554480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65506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508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 소외계층 포용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접근성 회복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97180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85800" y="3200400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30098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154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안전사고 예방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37160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사고율 ↓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297180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30098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3154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마트 운영 효율 향상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57784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 완화 · 인건비 ↓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9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카트라이더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사업화 가능성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B2B 스마트 리테일 솔루션 — 단계적 확장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저단가 애드온 하드웨어와 월 구독형 SaaS를 결합한 이중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구조로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2035년 100억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달러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글로벌리서치 등</a:t>
            </a:r>
            <a:r>
              <a:rPr lang="en-US" altLang="ko-KR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</a:t>
            </a:r>
            <a:r>
              <a:rPr lang="en-US" sz="12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대응한다</a:t>
            </a: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2697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모델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  +  SaaS  +  Data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72491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 매출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 1대당 모듈 (카메라·엣지·모터 키트) 판매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355848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918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SaaS 매출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서버 운영, 앱 유지관리, OTA 업데이트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922776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8587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동선·구매 패턴·진열 효율 BI 리포트 제공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737360"/>
            <a:ext cx="402336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9204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시장 진입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→ 대형 → 해외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892040" y="2798064"/>
            <a:ext cx="4572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2798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40680" y="2724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</a:t>
            </a:r>
            <a:r>
              <a:rPr lang="en-US" sz="1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중대형</a:t>
            </a: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슈퍼마켓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3364992"/>
            <a:ext cx="4572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92040" y="3364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3291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대형마트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3931920"/>
            <a:ext cx="4572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9204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0680" y="3858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</a:t>
            </a: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 </a:t>
            </a: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카트를 버리지 마세요</a:t>
            </a: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」</a:t>
            </a:r>
            <a:r>
              <a:rPr lang="en-US" sz="10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Add-on 구조로 카트 전량 교체 부담을 제거한다는 핵심 마케팅 메시지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카트라이더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r>
              <a:rPr lang="en-US" altLang="ko-KR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6400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 err="1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</a:t>
            </a:r>
            <a:r>
              <a:rPr lang="en-US" sz="1100" b="1" kern="0" spc="400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b="1" kern="0" spc="400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8229600" cy="572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아이디어들이 </a:t>
            </a:r>
            <a:r>
              <a:rPr lang="en-US" sz="17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무거워서 실패</a:t>
            </a: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자리에서, </a:t>
            </a:r>
            <a:r>
              <a:rPr lang="en-US" sz="17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모바일</a:t>
            </a: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단말로 </a:t>
            </a:r>
            <a:r>
              <a:rPr lang="en-US" sz="17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활용하는</a:t>
            </a: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b="1" dirty="0" err="1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역발상</a:t>
            </a:r>
            <a:r>
              <a:rPr lang="en-US" sz="17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7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스마트카트의</a:t>
            </a:r>
            <a:r>
              <a:rPr lang="en-US" altLang="ko-KR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7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상용화를</a:t>
            </a:r>
            <a:r>
              <a:rPr lang="en-US" altLang="ko-KR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7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현실로</a:t>
            </a:r>
            <a:r>
              <a:rPr lang="en-US" altLang="ko-KR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7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만든다</a:t>
            </a:r>
            <a:r>
              <a:rPr lang="en-US" altLang="ko-KR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altLang="ko-KR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카트라이더</a:t>
            </a: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제22회 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</a:t>
            </a:r>
            <a:r>
              <a:rPr lang="ko-KR" alt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적종합</a:t>
            </a:r>
            <a:r>
              <a:rPr lang="en-US" sz="1100" dirty="0" err="1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설계경진대회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729</Words>
  <Application>Microsoft Office PowerPoint</Application>
  <PresentationFormat>화면 슬라이드 쇼(16:9)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카트라이더 - 제22회 창의설계경진대회</dc:title>
  <dc:subject>PptxGenJS Presentation</dc:subject>
  <dc:creator>팀 카트라이더</dc:creator>
  <cp:lastModifiedBy>홍승혁/컴퓨터공학부</cp:lastModifiedBy>
  <cp:revision>11</cp:revision>
  <dcterms:created xsi:type="dcterms:W3CDTF">2026-05-10T10:00:34Z</dcterms:created>
  <dcterms:modified xsi:type="dcterms:W3CDTF">2026-05-11T05:33:40Z</dcterms:modified>
</cp:coreProperties>
</file>